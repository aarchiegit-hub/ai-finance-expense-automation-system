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notesSlides/notesSlide5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7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8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9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10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1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12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Slides/notesSlide13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4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8" r:id="rId10"/>
    <p:sldId id="265" r:id="rId11"/>
    <p:sldId id="266" r:id="rId12"/>
    <p:sldId id="267" r:id="rId13"/>
    <p:sldId id="270" r:id="rId14"/>
    <p:sldId id="269" r:id="rId15"/>
  </p:sldIdLst>
  <p:sldSz cx="14630400" cy="8229600"/>
  <p:notesSz cx="8229600" cy="14630400"/>
  <p:embeddedFontLst>
    <p:embeddedFont>
      <p:font typeface="DM Sans" pitchFamily="2" charset="0"/>
      <p:regular r:id="rId17"/>
      <p:bold r:id="rId18"/>
    </p:embeddedFont>
    <p:embeddedFont>
      <p:font typeface="DM Sans Semi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40.9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1874 222 24575,'-11'0'0,"-1279"-18"0,798 4 0,480 15 0,7-1 0,1 1 0,-1-1 0,1 0 0,-1 0 0,1-1 0,-1 1 0,1-1 0,-1 0 0,1 0 0,-1 0 0,1-1 0,0 1 0,-6-4 0,10 5 0,0 0 0,0 0 0,0-1 0,0 1 0,0 0 0,0 0 0,0 0 0,-1 0 0,1 0 0,0 0 0,0-1 0,0 1 0,0 0 0,0 0 0,0 0 0,0 0 0,0 0 0,0-1 0,0 1 0,0 0 0,0 0 0,0 0 0,0 0 0,0 0 0,0-1 0,0 1 0,0 0 0,0 0 0,0 0 0,0 0 0,1 0 0,-1-1 0,0 1 0,0 0 0,0 0 0,0 0 0,0 0 0,0 0 0,0 0 0,0 0 0,1-1 0,-1 1 0,0 0 0,0 0 0,0 0 0,0 0 0,12-5 0,11 1 0,72-2 0,1 5 0,155 17 0,-28 0 0,92-1 0,62 3 0,-316-15 0,118 23 0,-137-13 0,-41-13 0,1 1 0,-1-1 0,1 1 0,0 0 0,-1 0 0,1 0 0,-1 0 0,0 0 0,1 0 0,-1 0 0,0 0 0,0 0 0,1 1 0,-1-1 0,0 0 0,0 1 0,0-1 0,-1 1 0,1-1 0,0 1 0,0 2 0,-1-3 0,0 0 0,-1 0 0,1 0 0,0 0 0,-1 0 0,1 0 0,-1 0 0,0 0 0,1 0 0,-1 0 0,0 0 0,1 0 0,-1-1 0,0 1 0,0 0 0,0-1 0,0 1 0,0 0 0,1-1 0,-1 1 0,0-1 0,-1 1 0,1-1 0,0 0 0,0 1 0,0-1 0,0 0 0,0 0 0,-2 0 0,-38 6 0,37-6 0,-69 3 0,-112-8 0,147 0 0,-66-19 0,-17-3 0,69 18 0,-56-19 0,-27-4 0,121 29 0,-1-1 0,0-1 0,1 0 0,0-1 0,1-1 0,-1 0 0,-23-17 0,28 19 0,0 0 0,-1 1 0,1 0 0,-1 1 0,0-1 0,0 2 0,0 0 0,-17-2 0,-7 2 0,-44 3 0,48 0 0,1-1 0,-36-4 0,15-5 0,24 4 0,0 1 0,-45-1 0,69 5 0,0 0 0,0 0 0,0 0 0,1 0 0,-1 0 0,0 0 0,0 1 0,1-1 0,-1 1 0,0-1 0,1 1 0,-1 0 0,0 0 0,1-1 0,-1 1 0,1 0 0,-1 1 0,1-1 0,-3 2 0,4-2 0,-1 1 0,0-1 0,1 1 0,-1-1 0,1 1 0,0-1 0,-1 1 0,1-1 0,0 1 0,0 0 0,0-1 0,0 1 0,0-1 0,0 1 0,1-1 0,-1 1 0,1-1 0,0 3 0,3 7 0,1 1 0,1-1 0,0 0 0,13 16 0,-10-13 0,93 117 0,-96-122 0,1 0 0,1-1 0,-1 0 0,1 0 0,1-1 0,0 0 0,-1-1 0,2 1 0,15 6 0,13 6 0,45 14 0,-61-25 0,248 80 0,-223-77 0,1-2 0,0-2 0,89 2 0,895-11 0,-991 4 0,64 11 0,19 2 0,30 1 0,31 1 0,215-19 0,-356 0 0,0-3 0,0-1 0,48-15 0,35-5 0,-86 19 0,43-16 0,-56 14 0,0 2 0,1 0 0,-1 2 0,35-2 0,339 10 0,-386-4 0,1 0 0,-1-1 0,0 0 0,0-2 0,0 0 0,-1 0 0,1-2 0,-1 0 0,16-8 0,-28 11 0,1 1 0,-1-1 0,0 0 0,0 0 0,0-1 0,0 1 0,0 0 0,-1-1 0,1 0 0,-1 0 0,0 0 0,0 0 0,0 0 0,-1 0 0,0 0 0,0 0 0,0-1 0,1-7 0,0-8 0,-1-1 0,-3-36 0,1 28 0,0-54 0,-2-53 0,3 134 0,0 0 0,0 0 0,0 0 0,-1 0 0,1 0 0,0 0 0,-1 0 0,0 0 0,1 0 0,-1 0 0,0 1 0,0-1 0,0 0 0,0 0 0,0 1 0,-1-1 0,1 1 0,0-1 0,-1 1 0,1-1 0,-1 1 0,0 0 0,1 0 0,-1 0 0,0 0 0,0 0 0,1 0 0,-1 0 0,0 0 0,0 1 0,-4-2 0,-4 2 0,1 0 0,0 0 0,-1 1 0,1 0 0,-18 5 0,-11 1 0,-313 0 0,203-10 0,-1246 3 0,1363-1 0,0-2 0,-36-8 0,34 4 0,-53-2 0,-547 7 0,304 5 0,-537-3 0,856 0-273,1-1 0,0 1 0,0-1 0,-9-3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44.7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24450,'2138'63'0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52.6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4406 189 24575,'-697'0'0,"641"-3"0,-58-10 0,-33-2 0,89 13 0,-91-16 0,128 14 0,-225-36 0,218 36 0,1-2 0,-39-13 0,41 11 0,-1 1 0,0 1 0,-26-3 0,-111 5 0,97 4 0,-77-10 0,-28-5 0,-259 10 0,240 7 0,36-4 0,-162 5 0,170 11 0,-21 1 0,-173-14 0,179-2 0,148 1 0,0 1 0,0 0 0,1 1 0,-1 0 0,1 1 0,0 0 0,0 1 0,0 1 0,0 0 0,0 0 0,1 1 0,0 0 0,-15 13 0,22-15 0,0 0 0,1 1 0,0-1 0,-1 1 0,2-1 0,-1 1 0,1 0 0,-1 0 0,1 1 0,1-1 0,-1 0 0,1 1 0,0-1 0,0 1 0,1-1 0,-1 1 0,1-1 0,1 11 0,2 8 0,0 1 0,13 42 0,-14-58 0,6 19 0,2 8 0,-1 0 0,-1 1 0,3 61 0,-11-87 0,0 0 0,1-1 0,1 1 0,0 0 0,0-1 0,1 1 0,0-1 0,1 0 0,5 11 0,-6-16 0,0 0 0,1 0 0,-1-1 0,1 0 0,0 1 0,0-1 0,0 0 0,0-1 0,1 1 0,0-1 0,0 0 0,0 0 0,0 0 0,0-1 0,0 0 0,1 0 0,-1 0 0,10 1 0,79 8 0,-18-4 0,74 26 0,-143-31 0,14 2 0,0 0 0,30 0 0,-30-3 0,-1 1 0,36 9 0,-25-5 0,-1-1 0,1-1 0,52-1 0,-56-3 0,-1 1 0,0 1 0,0 1 0,0 1 0,49 15 0,-47-10 0,0-2 0,1-1 0,0-1 0,45 2 0,34 5 0,-17-1 0,1-4 0,97-6 0,35 3 0,169 26 0,-99-6 0,23 23 0,-297-43 0,209 35 0,-189-35 0,55-3 0,14 0 0,-34 13 0,-56-9 0,0-1 0,25 2 0,42-2 0,102-8 0,-176 2 0,0-1 0,0 0 0,-1-1 0,1 0 0,-1-1 0,0 0 0,0-1 0,-1 0 0,13-10 0,41-21 0,-27 21 0,0 2 0,77-20 0,-96 31 0,0-1 0,-1-2 0,0 1 0,1-2 0,-2 0 0,1-1 0,-1-1 0,-1-1 0,1 0 0,-2-1 0,1 0 0,-2-1 0,1-1 0,14-17 0,-25 24 0,0 1 0,0-1 0,-1 0 0,0 0 0,0 0 0,0 0 0,0 0 0,-1-1 0,0 1 0,-1 0 0,1 0 0,-1-1 0,-1 1 0,1 0 0,-1-1 0,0 1 0,0 0 0,-1 0 0,1-1 0,-2 1 0,1 1 0,-1-1 0,1 0 0,-1 1 0,-1-1 0,1 1 0,-1 0 0,0 0 0,0 0 0,-1 1 0,1-1 0,-1 1 0,0 0 0,0 1 0,-10-6 0,-2 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55.4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3970 341 24575,'-73'1'0,"28"1"0,0-3 0,1-1 0,-61-10 0,44-2 0,15 2 0,0 3 0,-1 2 0,-63-3 0,4 13 0,-97-5 0,129-12 0,55 9 0,0 1 0,-26-2 0,-371 3 0,214 6 0,157-3 0,3 1 0,0-2 0,-78-12 0,-2-7 0,71 14 0,1-3 0,1-2 0,-51-18 0,70 19 0,0 3 0,0 0 0,0 2 0,-1 1 0,0 2 0,-49 2 0,28-1 0,-55-6 0,-10-18 0,79 15 0,-65-8 0,16 13 0,48 4 0,0-2 0,-73-15 0,47 4 0,0 4 0,-1 2 0,0 3 0,-79 5 0,-135 0 0,367 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8:58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24575,'79'0'0,"-8"-2"0,140 16 0,173 55 0,-35-7 0,-242-52 0,195-7 0,-149-5 0,-117 2 0,5-2 0,0 3 0,0 1 0,-1 2 0,68 16 0,-70-9 0,-1-2 0,1-2 0,1-1 0,0-2 0,41-1 0,-36-4 0,146 3 0,-160 1 0,1 1 0,-1 1 0,0 1 0,34 13 0,-41-13 0,1 0 0,39 5 0,-37-8 0,39 12 0,-55-13 0,-1 2 0,0-1 0,-1 1 0,1 1 0,-1 0 0,1 0 0,13 12 0,11 12 0,64 41 0,-24-8 0,-89-68 0,-1 0 0,1 1 0,-32-5 0,-14-5 0,-8-7 0,47 13 0,-1 1 0,0 1 0,0 2 0,-39-5 0,-95 9 0,96 3 0,-119-13 0,75-7 0,33 4 0,0 4 0,-77-1 0,-1124 13 0,1253-3 0,-1-1 0,1 0 0,0-2 0,-33-10 0,-80-35 0,8 3 0,104 38-104,-38-19 0,42 18-1053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19:03.1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897 34 24575,'-77'0'0,"-153"-18"0,195 11 0,0 3 0,-1 1 0,0 1 0,0 2 0,1 2 0,-65 11 0,27 6 0,44-10 0,-1-2 0,-1-1 0,-53 4 0,54-9-1365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03.3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4374 551 24575,'-1'-1'0,"-1"1"0,0-1 0,0 1 0,1-1 0,-1 0 0,0 0 0,1 0 0,-1 0 0,1 0 0,-1 0 0,1 0 0,0 0 0,-1-1 0,1 1 0,0-1 0,0 1 0,0-1 0,0 1 0,-1-4 0,-16-32 0,-7-46 0,-20-110 0,31 125 0,9 42 0,-1 0 0,-2 1 0,-14-34 0,22 58 0,0 1 0,0-1 0,0 1 0,0 0 0,0-1 0,-1 1 0,1-1 0,0 1 0,0 0 0,0-1 0,-1 1 0,1 0 0,0-1 0,0 1 0,-1 0 0,1-1 0,0 1 0,-1 0 0,1 0 0,0-1 0,-1 1 0,1 0 0,0 0 0,-1 0 0,1 0 0,-1-1 0,1 1 0,0 0 0,-1 0 0,-4 11 0,3 21 0,1-31 0,2 356 0,1-143 0,-2-207 0,0-1 0,-1 1 0,1-1 0,-1 1 0,0-1 0,-1 1 0,0-1 0,0 0 0,0 0 0,-6 12 0,5-15 0,1 1 0,-1-1 0,0 0 0,0 0 0,0 0 0,-1 0 0,1-1 0,0 1 0,-1-1 0,0 0 0,0 0 0,1 0 0,-1-1 0,0 1 0,0-1 0,0 0 0,-1 0 0,-3 0 0,-30 3 0,1-2 0,-1-2 0,-38-4 0,-20 0 0,-1297 4 0,1363-2 0,1-1 0,-41-9 0,39 6 0,-57-4 0,25 4 0,0-2 0,-114-31 0,25 5 0,78 20 0,-1 3 0,-88-1 0,-22-3 0,-11 0 0,166 13 0,0-1 0,-38-8 0,35 5 0,-52-4 0,-341 9 0,202 3 0,216-2 0,5-1 0,-1 1 0,0 0 0,0 0 0,0 0 0,0 0 0,1 1 0,-1-1 0,0 1 0,0 0 0,1 0 0,-1 1 0,0-1 0,1 1 0,-5 2 0,8-3 0,-1-1 0,1 1 0,0-1 0,0 0 0,0 1 0,0-1 0,0 1 0,0-1 0,0 0 0,0 1 0,0-1 0,1 1 0,-1-1 0,0 0 0,0 1 0,0-1 0,0 0 0,0 1 0,1-1 0,-1 0 0,0 1 0,0-1 0,1 0 0,-1 1 0,0-1 0,0 0 0,1 0 0,-1 1 0,0-1 0,1 0 0,-1 0 0,0 0 0,1 1 0,-1-1 0,0 0 0,1 0 0,-1 0 0,1 0 0,-1 0 0,0 0 0,1 0 0,-1 0 0,1 0 0,-1 0 0,0 0 0,1 0 0,22 5 0,89 0 0,-81-5 0,0 1 0,50 8 0,79 27 0,76 15 0,-172-40 0,112 3 0,-110-13 0,-7-2 0,0 3 0,-1 2 0,91 18 0,-78-3 0,1-3 0,0-3 0,131 5 0,-173-18 0,1 1 0,0 2 0,-1 0 0,1 3 0,-1 0 0,46 17 0,-45-5 0,-30-17 0,-1-1 0,1 0 0,-1 1 0,1-1 0,-1 0 0,0 1 0,1-1 0,-1 1 0,0-1 0,1 0 0,-1 1 0,0-1 0,1 1 0,-1-1 0,0 1 0,0-1 0,0 1 0,1-1 0,-1 1 0,0 0 0,0-1 0,0 1 0,0-1 0,0 1 0,0-1 0,0 1 0,0-1 0,0 1 0,0-1 0,0 1 0,-1 0 0,1-1 0,0 1 0,0-1 0,0 1 0,-1-1 0,1 1 0,0-1 0,-1 0 0,1 1 0,0-1 0,-1 1 0,1-1 0,-1 0 0,1 1 0,0-1 0,-1 0 0,1 1 0,-1-1 0,1 0 0,-1 0 0,1 1 0,-1-1 0,1 0 0,-1 0 0,0 0 0,1 0 0,-1 0 0,1 0 0,-1 0 0,-19 5 0,1-2 0,-1 0 0,1-1 0,-1-1 0,0-1 0,-31-4 0,-5 2 0,-223-14 0,-3-1 0,-353 18 0,611-3 0,0-1 0,0 0 0,0-2 0,-45-16 0,-4 0 0,51 16 0,-2 0 0,0-1 0,0 0 0,1-2 0,-1-1 0,2-1 0,-39-23 0,48 24 0,-12-8 0,2-2 0,-40-39 0,55 50 0,2 0 0,-1-1 0,1 0 0,1 0 0,0-1 0,0 0 0,1 0 0,0 0 0,0 0 0,1 0 0,-2-18 0,0-16 0,2-1 0,2 0 0,8-70 0,-7 111 0,0 1 0,1 0 0,0 0 0,0 0 0,0 0 0,0 0 0,1 0 0,-1 0 0,1 0 0,-1 1 0,1-1 0,0 0 0,0 1 0,0 0 0,0-1 0,1 1 0,-1 0 0,1 0 0,-1 0 0,1 0 0,0 1 0,0-1 0,0 1 0,0 0 0,0-1 0,0 1 0,0 1 0,0-1 0,6 0 0,10-2 0,0 2 0,-1 0 0,1 2 0,21 2 0,-7-1 0,-1 1 0,50 11 0,18 1 0,311-10 0,-227-7 0,-97 3 0,102-3 0,-95-13 0,-62 9 0,44-3 0,407 6 0,-251 5 0,-130-4 0,-34 0 0,123 12 0,-67 17 0,-90-18 0,1-1 0,-1-2 0,46 3 0,391-9 0,-201-2 0,-249 4 0,0 0 0,0 1 0,0 2 0,-1 0 0,1 1 0,-1 1 0,19 10 0,-30-12 0,-1-1 0,0 1 0,0 1 0,-1 0 0,0 0 0,0 0 0,0 1 0,-1 0 0,0 0 0,0 1 0,-1 0 0,0 0 0,0 0 0,-1 0 0,0 1 0,0 0 0,-1 0 0,0 0 0,-1 0 0,2 15 0,-3-22 0,-1 1 0,0-1 0,0 0 0,0 0 0,0 0 0,-1 1 0,1-1 0,-1 0 0,1 0 0,-1 0 0,0 0 0,0 0 0,0 1 0,0-2 0,0 1 0,0 0 0,0 0 0,-1 0 0,1 0 0,-3 1 0,1 0 0,0-1 0,-1 0 0,0 0 0,1 0 0,-1 0 0,0 0 0,0-1 0,0 1 0,0-1 0,-5 1 0,-3-1 0,0 0 0,0 0 0,0-1 0,0 0 0,-1-1 0,-20-4 0,-7-5 0,-1 2 0,0 1 0,-56 0 0,-633 8 0,677-3 0,-65-12 0,63 7 0,-57-2 0,84 8 0,-1-2 0,-29-7 0,-41-5 0,-17 0 0,78 8 0,-56-3 0,-309 10 0,187 1 0,200-1-170,1-1-1,-1 0 0,1-2 1,0 1-1,-1-2 0,1 0 1,-26-11-1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13.4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1368 64 24575,'-13'-1'0,"1"0"0,0-1 0,0-1 0,-12-3 0,-28-6 0,-27 2 0,-17-4 0,-132-1 0,-484 16 0,705-1 0,0 0 0,1 0 0,-1 1 0,0 0 0,1 0 0,-1 1 0,1 0 0,-1 0 0,1 0 0,-11 6 0,14-6 0,0 1 0,-1 0 0,1 0 0,0 0 0,0 0 0,1 0 0,-1 0 0,1 1 0,0-1 0,-1 1 0,1 0 0,1-1 0,-1 1 0,1 0 0,-1 0 0,1 0 0,0 1 0,0 4 0,-1 7 0,1 0 0,1 0 0,0 0 0,1 0 0,1 0 0,1 0 0,0-1 0,1 1 0,0-1 0,1 0 0,1 0 0,12 22 0,-15-32 0,1 1 0,0-1 0,0 0 0,0 0 0,1 0 0,0 0 0,-1-1 0,2 0 0,-1 0 0,0 0 0,1-1 0,0 0 0,6 3 0,14 5 0,51 13 0,-8-3 0,-45-13 0,-1-2 0,1-1 0,0 0 0,0-2 0,1-1 0,33-1 0,14 2 0,-36 1 0,-1 3 0,53 15 0,-40-9 0,126 39 0,-60-15 0,359 87 0,-228-75 0,-182-38 0,-25-3 0,68 4 0,200 2 0,180 3 0,771-18 0,-1249 2 0,0-2 0,-1 1 0,1-1 0,0 0 0,-1-1 0,1 0 0,-1 0 0,0 0 0,1-1 0,-1 0 0,0-1 0,-1 1 0,1-1 0,-1-1 0,1 1 0,-1-1 0,6-6 0,-5 4 0,1 1 0,0 0 0,0 1 0,14-7 0,-14 8 0,0 0 0,0-1 0,-1 0 0,1-1 0,10-10 0,31-25 0,-38 33 0,0-1 0,19-18 0,-27 22 0,1 0 0,-1 0 0,0 0 0,-1 0 0,1 0 0,-1-1 0,0 1 0,0-1 0,-1 0 0,0 0 0,2-10 0,-2-8 0,-2-39 0,0 36 0,0 17 0,0 0 0,-1 0 0,0 0 0,-1 0 0,0 0 0,0 0 0,-1 1 0,-1 0 0,1 0 0,-2 0 0,1 0 0,-1 1 0,0 0 0,-1 0 0,-9-9 0,5 7 0,0-1 0,-1 2 0,0 0 0,-1 0 0,0 1 0,-1 1 0,1 0 0,-1 0 0,-25-6 0,-62-16 0,-103-26 0,18 24 0,119 23 0,0 2 0,-118 7 0,69 1 0,-2394-2 0,2501 0-273,0 0 0,0 0 0,1-2 0,-14-2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24562,'2819'92'0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19.5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560 6 24575,'516'0'0,"-1559"0"0,1040 0 36,0 0-144,1 0 0,0 1 1,0-2-1,0 1 0,0 0 0,0 0 1,0-1-1,0 1 0,0-1 0,0 1 0,0-1 1,-3-1-1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43.0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4090 186 24542,'-4089'-185'0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46.3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24575,'289'-2'0,"316"5"0,-370 12 0,64 1 0,-290-16 0,355 18 0,-220-7 0,176-8 0,-156-5 0,-7 0 0,139 3 0,-2 25 0,-169-5 0,167 22 0,-241-39 0,-4 0 0,58 12 0,-56-8 0,0-3 0,1-2 0,86-5 0,-33-1 0,113 3-1365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52.5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3832 0 24575,'-3831'0'-1365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0:54.7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1487 0 24575,'-1487'0'-1365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00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124 61 24575,'-6'0'0,"-6"0"0,-7 0 0,-6 0 0,2-6 0,5-6 0,5-6 0,5-7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02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3842 34 24575,'-56'2'0,"-67"12"0,28-2 0,81-10 0,-474 31 0,-615-35 0,907-13 0,29 0 0,12 15 0,74 1 0,-137-15 0,31-6 0,118 6 0,49 9 0,0 1 0,-25-2 0,-347 4 0,200 4 0,-29-2-1365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08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1601 3 24575,'54'0'0,"-27"-2"0,-1 2 0,0 1 0,0 1 0,51 10 0,-33-3 0,0-2 0,1-2 0,-1-2 0,84-5 0,-46 1 0,401 0 0,-1420 1 0,873 2 0,-72 14 0,35-3 0,0-1 0,25-2 0,-84-1 0,70-9 0,-143 18 0,125-8 0,-205-6 0,161-6 0,84 3 0,-79-3 0,126-3-1365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13.1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4309 1 24575,'-2475'0'0,"2443"1"0,0 2 0,-35 8 0,32-4 0,-52 2 0,-322-8 0,191-3 0,179 5 0,-1 1 0,-46 10 0,45-6 0,-16 3 0,10-2 0,-1-2 0,-48 2 0,-403-11-1365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15.7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0 590 24575,'2'-5'0,"0"1"0,0-1 0,0 1 0,0 0 0,1 0 0,0-1 0,0 2 0,0-1 0,0 0 0,1 1 0,-1-1 0,7-3 0,1-4 0,-3 4 0,0-1 0,1 2 0,0-1 0,0 1 0,0 0 0,1 1 0,0 0 0,0 1 0,15-5 0,10 0 0,56-8 0,-19 5 0,0 1 0,-1 4 0,1 3 0,94 6 0,-43 0 0,-22 0 0,116-5 0,-178-2 0,69-19 0,-70 14 0,74-9 0,26 0 0,-34 4 0,-61 8 0,57-16 0,-67 13 0,-1 3 0,1 0 0,54-3 0,111-10 0,-131 11 0,13-5 0,-52 8 0,0 1 0,36-1 0,19 6 0,-46 1 0,-1-1 0,1-2 0,48-8 0,53-12 0,-28 5 0,-66 11 0,55-1 0,-69 7 0,-1-2 0,1-1 0,-1-1 0,55-16 0,-58 12 0,1 1 0,-1 1 0,1 2 0,32-2 0,109 4 0,-103 3 0,-35-2 0,0-2 0,40-9 0,-36 6 0,50-3 0,47 10 0,49-2 0,-83-14 0,-65 9 0,55-4 0,5 10-1365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17.9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4656 3 24575,'-198'-2'0,"-210"5"0,228 18 0,138-15 0,-163 28 0,125-24 0,-172 11 0,218-18 0,0 0 0,0 2 0,-49 15 0,43-10 0,-75 9 0,86-17 0,-8 0 0,0 2 0,-68 15 0,-152 34 0,232-49 0,-117 8 0,109-11 0,-1 1 0,1 1 0,0 2 0,-39 12 0,38-8 0,0-1 0,0-1 0,-66 3 0,-106-10 0,84-3 0,-559 4 0,654 0 0,0 2 0,-40 8 0,36-4 0,-45 2 0,44-7 0,0 1 0,0 1 0,1 2 0,-1 1 0,-32 12 0,45-13 0,0-1 0,0 0 0,-1-2 0,-36 3 0,-82-7 0,57-2 0,74 4-105,-1-1 0,1-1 0,-1 1 0,1-1 0,0-1 0,0 1 0,0-1 0,0 0 0,0-1 0,0 0 0,0 0 0,-6-4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1.4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2722 2 24575,'-79'-1'0,"-121"4"0,168 0 0,0 1 0,0 1 0,1 2 0,-37 13 0,-174 59 0,202-68 0,22-5 0,-1 0 0,1-2 0,-1 0 0,-21 1 0,-367-4 0,195-3 0,-955 2 0,1155 0-341,1-1 0,-1 1-1,-18-5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3:39:28.9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2077 438 24575,'-1044'0'0,"1038"0"0,-2 1 0,0-1 0,0 0 0,0 0 0,0-1 0,0 0 0,0 0 0,1-1 0,-1 0 0,0-1 0,1 1 0,-8-5 0,14 7 0,1 0 0,-1-1 0,1 1 0,-1 0 0,1 0 0,-1-1 0,0 1 0,1 0 0,-1-1 0,1 1 0,0 0 0,-1-1 0,1 1 0,-1-1 0,1 1 0,0 0 0,-1-1 0,1 1 0,0-1 0,-1 0 0,1 1 0,0-1 0,0 1 0,0-1 0,-1 1 0,1-1 0,0 1 0,0-1 0,0 0 0,0 1 0,0-1 0,0 1 0,0-1 0,0 0 0,0 1 0,0-1 0,1 1 0,-1-1 0,0 1 0,0-1 0,0 0 0,1 1 0,-1-1 0,0 1 0,1-1 0,-1 1 0,0 0 0,1-1 0,-1 1 0,1-1 0,-1 1 0,1-1 0,3-2 0,1 1 0,-1 0 0,1-1 0,-1 1 0,10-2 0,141-31 0,-87 22 0,326-72-381,489-86-938,-540 112 1384,-318 54-7,-4 1 730,39-2 1,-946 33-789,160 49 0,592-62 0,-192-4 0,273-11 0,0 3 0,1 2 0,-79 15 0,58-5 0,-1-3 0,0-3 0,-112-2 0,175-6 0,0 0 0,-1 1 0,1 0 0,0 0 0,0 2 0,-15 4 0,23-7 0,1 1 0,-1 0 0,1 0 0,-1 1 0,1-1 0,0 0 0,0 1 0,-1-1 0,1 1 0,0 0 0,0 0 0,1 0 0,-1 0 0,0 0 0,1 0 0,-1 0 0,1 0 0,0 1 0,-1-1 0,1 1 0,0-1 0,1 1 0,-1-1 0,0 1 0,1-1 0,-1 1 0,1 0 0,0-1 0,0 1 0,0 0 0,0-1 0,2 6 0,3 17 0,2-1 0,12 31 0,-9-28 0,9 37 0,-9-23 0,2-1 0,1 0 0,35 67 0,-46-103 0,1 0 0,-1 0 0,1-1 0,0 1 0,1-1 0,-1 0 0,1 0 0,-1 0 0,1 0 0,0-1 0,0 1 0,0-1 0,0 0 0,0 0 0,8 2 0,7 2 0,1-1 0,25 3 0,-29-6 0,41 5 0,0-3 0,95-6 0,49 2 0,-161 6 0,0 1 0,0 2 0,-1 2 0,70 29 0,-93-34 0,0-2 0,0 1 0,0-2 0,0 0 0,27 1 0,85-6 0,-56 0 0,1019 0 0,-572 3 0,-493-2 0,0-2 0,38-8 0,-34 5 0,39-3 0,0 8 0,-48 1 0,0 0 0,0-1 0,0-1 0,0 0 0,-1-2 0,36-11 0,-29 6 0,0 0 0,1 2 0,0 1 0,1 2 0,33-2 0,148 6 0,-93 3 0,253-3 0,-366 0 0,1 0 0,-1 0 0,1 0 0,-1-1 0,1 1 0,-1-1 0,0 0 0,1-1 0,-1 1 0,0-1 0,0 1 0,0-1 0,0-1 0,6-3 0,-7 3 0,0 0 0,-1-1 0,1 1 0,-1-1 0,0 1 0,0-1 0,-1 0 0,1 1 0,-1-1 0,1 0 0,-1 0 0,-1 0 0,1 0 0,0 0 0,-1 0 0,0-6 0,0-8 0,-1 0 0,-1 0 0,0 0 0,-2 0 0,0 0 0,-1 1 0,-10-25 0,-3-13 0,13 34 0,1 0 0,-3-43 0,5 38 0,-7-34 0,7 52 0,0 0 0,-1-1 0,0 1 0,0 0 0,-1 0 0,0 1 0,-10-15 0,-77-99 0,77 104-1365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3:39:31.2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1812 312 24575,'-11'-2'0,"0"1"0,0-1 0,0-1 0,1 0 0,-1-1 0,-19-9 0,-28-8 0,23 14 0,0 2 0,-1 2 0,-60 1 0,-33-2 0,-259-49 0,187 22 0,-202-4 0,68 38 0,388 0 0,0 3 0,0 2 0,60 17 0,-19-4 0,-28-9 0,109 4 0,68-14 0,-183-3 0,-4 4 0,69 11 0,36 2 0,-136-15 0,18 0 0,48-4 0,-85 1 0,0 1 0,0-1 0,0 0 0,0 0 0,-1-1 0,1 0 0,-1 0 0,0 0 0,0 0 0,6-5 0,3-4 0,-1-1 0,14-14 0,-25 24 0,1 0 0,0 0 0,-1 0 0,0 0 0,1-1 0,-1 1 0,-1 0 0,1-1 0,0 0 0,-1 1 0,0-1 0,0 0 0,0 0 0,0 0 0,0 0 0,-1 0 0,0 0 0,0 0 0,0 0 0,0 1 0,-1-1 0,1 0 0,-1 0 0,0 0 0,0 0 0,-1 0 0,1 1 0,-5-8 0,3 7 0,0 0 0,0 0 0,-1 0 0,0 0 0,0 1 0,0-1 0,0 1 0,-1 0 0,1 0 0,-1 1 0,1-1 0,-1 1 0,0 0 0,0 0 0,0 1 0,-1-1 0,1 1 0,0 0 0,0 1 0,-1-1 0,-5 1 0,2 2 0,0-1 0,0 1 0,0 1 0,0 0 0,1 0 0,-1 0 0,1 1 0,0 0 0,0 1 0,1 0 0,-14 11 0,-25 14 0,30-22 0,0 0 0,0-1 0,-1-1 0,1 0 0,-28 5 0,-62 12 0,55-11 0,-1-2 0,-98 7 0,116-16 0,-129-4 0,160 2-57,0 1 0,1 0 1,-1-1-1,0 1 0,0-1 0,1 0 0,-1 0 0,1 0 0,-1 0 0,1 0 0,-1-1 1,1 1-1,0-1 0,0 1 0,-1-1 0,1 0 0,0 0 0,1 0 0,-1 0 1,0 0-1,0-1 0,1 1 0,-2-3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3:39:33.2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2937 225 24575,'-1140'0'0,"1170"-2"0,49-9 0,3 0 0,198-20 0,-123 10 0,259 1 0,-733 20 0,124 2 0,-1261-2 0,1402-2 0,-57-11 0,-3 0 0,-5-3 0,-8-2 0,101 16 0,0-2 0,0 0 0,1-2 0,-33-12 0,12 3 0,29 12 85,0 0-1,0 1 0,-29-1 1,27 3-653,1-1 1,-28-6-1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3.5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1 156 24475,'4243'-155'0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1.0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4660 173 24575,'-15'-1'0,"1"-1"0,-1 0 0,1-1 0,-1 0 0,1-2 0,-20-8 0,17 6 0,-1 1 0,0 1 0,-30-6 0,-8 5 0,-300-23 0,157 13 0,6 1 0,161 13 0,1-1 0,-33-8 0,31 5 0,-53-4 0,-488 9 0,276 3 0,-2132-2 0,2426 0 6,-1 1-112,-1-1 1,0 0-1,1 0 1,-1-1 0,0 0-1,0 1 1,1-2-1,-1 1 1,1-1-1,-1 0 1,1 0-1,-10-6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5.6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3761 352 24575,'0'1'0,"0"0"0,0 0 0,-1 0 0,1 0 0,-1 0 0,1 0 0,-1 0 0,1 0 0,-1 0 0,0 0 0,1 0 0,-1 0 0,0-1 0,0 1 0,1 0 0,-1 0 0,0-1 0,0 1 0,0-1 0,0 1 0,0-1 0,0 1 0,0-1 0,0 1 0,0-1 0,-2 1 0,-33 5 0,32-5 0,-64 3 0,-86-4 0,64-1 0,76 0 0,0-1 0,0 0 0,-1-1 0,2 0 0,-1-1 0,0 0 0,-16-9 0,-9-2 0,3 4 0,-72-12 0,73 17 0,0-1 0,-48-17 0,56 14 0,-1 2 0,0 1 0,0 2 0,-1 0 0,-30 0 0,-148 6 0,98 2 0,-708-3 0,764-2 0,-67-13 0,65 7 0,-60-1 0,31 10 0,30 0 0,1-1 0,-76-12 0,-274-68 0,238 55 0,-30-8 0,163 25 111,-102-30-1587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47.0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 24575,'34'-2'0,"0"-1"0,33-8 0,-31 5 0,54-3 0,370 8 0,-216 2 0,-216 1 0,1 1 0,31 7 0,31 3 0,175-9-39,-183-5-1287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50.1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3702 284 24575,'-654'0'0,"621"-2"0,1-1 0,-55-14 0,56 11 0,3-1 0,-38-15 0,45 14 0,1 1 0,-1 1 0,-39-6 0,-236 8 0,156 6 0,49 0 0,39 0 0,-1-2 0,-71-9 0,91 2 0,-35-12 0,43 10 0,0 2 0,-1 2 0,-35-5 0,-22 10 0,61 1 0,1-1 0,-1-1 0,1 0 0,-1-2 0,-21-5 0,14 1 0,0 1 0,-1 1 0,-44 0 0,-93 6 0,62 2 0,4-2 0,-120-3 0,109-16 0,38 6 0,1-1 0,37 6 0,-72-5 0,41 14 0,46 0 0,0-2 0,0 0 0,-1-1 0,1-1 0,-21-5 0,38 6-114,1 0 1,-1 0-1,0-1 0,1 0 0,-1 0 1,1 0-1,-1 0 0,1 0 0,0-1 1,0 0-1,-5-5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7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4382 66 24575,'-115'2'0,"-130"-5"0,216-1 0,0-1 0,-54-17 0,57 14 0,0 1 0,-1 1 0,-42-4 0,-306 8 0,181 4 0,-1747-2 0,1895 2 0,-69 13 0,-31 1 0,-241-15 0,179-3 0,177 4 0,0 1 0,-34 8 0,38-6 0,0-1 0,0-1 0,-39 0 0,63-3-105,0-1 0,-1 1 0,1-1 0,0 1 0,-1-1 0,1 0 0,0 0 0,0 0 0,0-1 0,0 1 0,0-1 0,-6-4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29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0 282 24575,'1366'0'0,"-1347"-1"0,0-1 0,0-1 0,23-6 0,-20 4 0,41-5 0,80 9 0,3-1 0,-121 0 0,-1-1 0,0-1 0,0-1 0,24-8 0,-17 4 0,56-9 0,-58 13 0,-1-1 0,45-14 0,-14 0 0,1 4 0,115-17 0,-62 14 0,-72 13 0,0 3 0,60 1 0,-61 2 0,0-1 0,64-10 0,50-11 0,-32 6 0,-40 7 0,0 3 0,118 8 0,-65 0 0,483-2-1365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2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4710 1 24575,'-2504'0'0,"2276"15"0,17 1 0,97-16 0,42-1 0,0 3 0,-137 20 0,112 0 0,36-7 0,-1-2 0,-1-3 0,-67 1 0,-632-13 0,754 2-85,0 0 0,1 0-1,-1-1 1,1 0 0,0 0-1,-1-1 1,1 0 0,0 0-1,0-1 1,0 0 0,0 0-1,0 0 1,1-1 0,-1 0-1,-10-9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8:21:3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0 112 24575,'1737'0'0,"-1704"-2"0,65-12 0,12 0 0,-75 11 0,0-1 0,39-9 0,-35 6 0,-1 3 0,1 1 0,77 5 0,42-3 0,-62-13 0,-63 7 0,54-2 0,-60 7-235,53-12 0,-64 11-660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41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1262-4A36-ED64-8EC5-8C257CE7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3746A-410E-B52F-83D2-C3CB85DF9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53A1B-6841-97BF-037F-05AD29B12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5D0AC-6ED5-5BCB-8391-06C184FD3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05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04C2-0CEC-52F1-8FF9-7B09F6B3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C66E5-FAB6-08ED-A9AC-F28FB763C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EF723-B78C-2C40-B202-6D7AF46C4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CD7C-2F06-E4FE-0022-6E5920A08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40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7D93-6DA6-2577-0C23-F711DB5A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76CE0-D7DD-6C75-BAD1-D9C78897E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6E9B0-1A02-E7DA-7FDC-2757E7B90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3B7B7-94AD-ADD1-2BE6-585BE0DEF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87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8C9E-6A7C-E36B-1C04-D29C4AB1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BB61B-CC10-194E-A4D2-66C8D3D77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08F82-E534-2609-C41C-40ED3AFDD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A2858-5AA2-2A1B-CC7C-52A7ABFE6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52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.xml"/><Relationship Id="rId3" Type="http://schemas.openxmlformats.org/officeDocument/2006/relationships/image" Target="../media/image7.svg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11" Type="http://schemas.openxmlformats.org/officeDocument/2006/relationships/customXml" Target="../ink/ink5.xml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customXml" Target="../ink/ink4.xml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20.svg"/><Relationship Id="rId12" Type="http://schemas.openxmlformats.org/officeDocument/2006/relationships/customXml" Target="../ink/ink8.xml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14.xml"/><Relationship Id="rId18" Type="http://schemas.openxmlformats.org/officeDocument/2006/relationships/image" Target="../media/image49.png"/><Relationship Id="rId3" Type="http://schemas.openxmlformats.org/officeDocument/2006/relationships/image" Target="../media/image25.png"/><Relationship Id="rId7" Type="http://schemas.openxmlformats.org/officeDocument/2006/relationships/customXml" Target="../ink/ink11.xml"/><Relationship Id="rId12" Type="http://schemas.openxmlformats.org/officeDocument/2006/relationships/image" Target="../media/image46.png"/><Relationship Id="rId17" Type="http://schemas.openxmlformats.org/officeDocument/2006/relationships/customXml" Target="../ink/ink16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11" Type="http://schemas.openxmlformats.org/officeDocument/2006/relationships/customXml" Target="../ink/ink13.xml"/><Relationship Id="rId5" Type="http://schemas.openxmlformats.org/officeDocument/2006/relationships/image" Target="../media/image27.png"/><Relationship Id="rId15" Type="http://schemas.openxmlformats.org/officeDocument/2006/relationships/customXml" Target="../ink/ink15.xml"/><Relationship Id="rId10" Type="http://schemas.openxmlformats.org/officeDocument/2006/relationships/image" Target="../media/image45.png"/><Relationship Id="rId19" Type="http://schemas.openxmlformats.org/officeDocument/2006/relationships/customXml" Target="../ink/ink17.xml"/><Relationship Id="rId4" Type="http://schemas.openxmlformats.org/officeDocument/2006/relationships/image" Target="../media/image26.png"/><Relationship Id="rId9" Type="http://schemas.openxmlformats.org/officeDocument/2006/relationships/customXml" Target="../ink/ink12.xml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3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19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3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23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customXml" Target="../ink/ink27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customXml" Target="../ink/ink33.xml"/><Relationship Id="rId3" Type="http://schemas.openxmlformats.org/officeDocument/2006/relationships/image" Target="../media/image37.png"/><Relationship Id="rId7" Type="http://schemas.openxmlformats.org/officeDocument/2006/relationships/customXml" Target="../ink/ink30.xml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png"/><Relationship Id="rId11" Type="http://schemas.openxmlformats.org/officeDocument/2006/relationships/customXml" Target="../ink/ink32.xml"/><Relationship Id="rId5" Type="http://schemas.openxmlformats.org/officeDocument/2006/relationships/customXml" Target="../ink/ink29.xml"/><Relationship Id="rId10" Type="http://schemas.openxmlformats.org/officeDocument/2006/relationships/image" Target="../media/image65.png"/><Relationship Id="rId4" Type="http://schemas.openxmlformats.org/officeDocument/2006/relationships/image" Target="../media/image38.svg"/><Relationship Id="rId9" Type="http://schemas.openxmlformats.org/officeDocument/2006/relationships/customXml" Target="../ink/ink31.xml"/><Relationship Id="rId14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40.png"/><Relationship Id="rId3" Type="http://schemas.openxmlformats.org/officeDocument/2006/relationships/customXml" Target="../ink/ink34.xml"/><Relationship Id="rId7" Type="http://schemas.openxmlformats.org/officeDocument/2006/relationships/image" Target="../media/image58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5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37.xml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42.png"/><Relationship Id="rId3" Type="http://schemas.openxmlformats.org/officeDocument/2006/relationships/customXml" Target="../ink/ink38.xml"/><Relationship Id="rId7" Type="http://schemas.openxmlformats.org/officeDocument/2006/relationships/image" Target="../media/image58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9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41.xml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3" Type="http://schemas.openxmlformats.org/officeDocument/2006/relationships/customXml" Target="../ink/ink42.xml"/><Relationship Id="rId7" Type="http://schemas.openxmlformats.org/officeDocument/2006/relationships/image" Target="../media/image5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43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45.xml"/><Relationship Id="rId9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3" Type="http://schemas.openxmlformats.org/officeDocument/2006/relationships/customXml" Target="../ink/ink46.xml"/><Relationship Id="rId7" Type="http://schemas.openxmlformats.org/officeDocument/2006/relationships/image" Target="../media/image58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47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49.xml"/><Relationship Id="rId9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081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Expense Tracker Automation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685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n8n + Google Forms + Google Sheets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186589"/>
            <a:ext cx="3664744" cy="1685092"/>
          </a:xfrm>
          <a:prstGeom prst="roundRect">
            <a:avLst>
              <a:gd name="adj" fmla="val 121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28224" y="3421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Subject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911441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Automation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186589"/>
            <a:ext cx="3664863" cy="1685092"/>
          </a:xfrm>
          <a:prstGeom prst="roundRect">
            <a:avLst>
              <a:gd name="adj" fmla="val 121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919782" y="3421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Focus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391144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Workflow Design &amp; Implementation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098494"/>
            <a:ext cx="3664744" cy="2662755"/>
          </a:xfrm>
          <a:prstGeom prst="roundRect">
            <a:avLst>
              <a:gd name="adj" fmla="val 87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28224" y="5332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Outcome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5823347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Faster, Smarter Expense Management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685348" y="5098494"/>
            <a:ext cx="3664863" cy="2662755"/>
          </a:xfrm>
          <a:prstGeom prst="roundRect">
            <a:avLst>
              <a:gd name="adj" fmla="val 87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19782" y="5332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Group 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919782" y="582334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Aarchie - 2520982502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919782" y="632233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Sanjeet- 2520982709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919782" y="6821329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Shreya- 2520982726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FF59B66-4883-F25A-D47A-BF9AF8F47991}"/>
              </a:ext>
            </a:extLst>
          </p:cNvPr>
          <p:cNvSpPr/>
          <p:nvPr/>
        </p:nvSpPr>
        <p:spPr>
          <a:xfrm>
            <a:off x="4919782" y="7237213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Sparsh- 2520982740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6597" y="492919"/>
            <a:ext cx="7903607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Problem with Manual Expense Management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6597" y="1808083"/>
            <a:ext cx="790360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organizations still rely on emails, spreadsheets, and paper trails to handle expense claims — a process riddled with inefficiencies.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06597" y="246864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2468642"/>
            <a:ext cx="91440" cy="10122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5202" y="266866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Delays in Approval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375202" y="302847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Claims sit in inboxes for days, slowing down reimbursements and frustrating employees.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106597" y="361926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3619262"/>
            <a:ext cx="91440" cy="10122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75202" y="381928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Records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375202" y="417909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Receipts get lost, emails go unanswered, and critical data disappears from spreadsheets.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106597" y="476988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4769882"/>
            <a:ext cx="91440" cy="10122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75202" y="496990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Human Errors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375202" y="532971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data entry leads to miscalculations, duplicate entries, and audit failures.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106597" y="5920502"/>
            <a:ext cx="7903607" cy="1012269"/>
          </a:xfrm>
          <a:prstGeom prst="roundRect">
            <a:avLst>
              <a:gd name="adj" fmla="val 10840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5920502"/>
            <a:ext cx="91440" cy="10122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75202" y="6120527"/>
            <a:ext cx="241042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 Real-Time Visibility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375202" y="6480334"/>
            <a:ext cx="743497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teams have no live view of spending — decisions are made on stale data.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106597" y="7088505"/>
            <a:ext cx="7903607" cy="648176"/>
          </a:xfrm>
          <a:prstGeom prst="roundRect">
            <a:avLst>
              <a:gd name="adj" fmla="val 24606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762" y="7337822"/>
            <a:ext cx="221456" cy="1771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682383" y="7271147"/>
            <a:ext cx="715065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 line: A manual system is slow, error-prone, and unscalable. There's a better way.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D36D568-9FFF-9F06-7A34-C1D75AC4B606}"/>
                  </a:ext>
                </a:extLst>
              </p14:cNvPr>
              <p14:cNvContentPartPr/>
              <p14:nvPr/>
            </p14:nvContentPartPr>
            <p14:xfrm>
              <a:off x="12852158" y="7870803"/>
              <a:ext cx="1580040" cy="236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D36D568-9FFF-9F06-7A34-C1D75AC4B6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89158" y="7807803"/>
                <a:ext cx="17056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4AA57EF-E88E-B6F6-19B7-5A8ACD1246DB}"/>
                  </a:ext>
                </a:extLst>
              </p14:cNvPr>
              <p14:cNvContentPartPr/>
              <p14:nvPr/>
            </p14:nvContentPartPr>
            <p14:xfrm>
              <a:off x="13492958" y="7961523"/>
              <a:ext cx="770040" cy="23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4AA57EF-E88E-B6F6-19B7-5A8ACD1246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29958" y="7898883"/>
                <a:ext cx="895680" cy="14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Our Objective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20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builds a fully automated expense tracking system that eliminates manual steps — from submission to notification — using free, accessible tools.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89298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30023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Automate Submission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email-based submissions with a structured Google Form that captures data consistently every time.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89298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34248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Store Data Automatically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23386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responses flow instantly into Google Sheets — no manual copy-paste, no missed entries.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Apply Finance Rules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754177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n8n evaluates each claim against predefined thresholds and routes it accordingly.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Send Instant Alerts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754177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email notifications keep employees and approvers informed in real time.</a:t>
            </a:r>
            <a:endParaRPr lang="en-US" sz="17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2C260D-7885-255C-526F-B5D4A635AD38}"/>
              </a:ext>
            </a:extLst>
          </p:cNvPr>
          <p:cNvGrpSpPr/>
          <p:nvPr/>
        </p:nvGrpSpPr>
        <p:grpSpPr>
          <a:xfrm>
            <a:off x="12854678" y="7749123"/>
            <a:ext cx="1641600" cy="403920"/>
            <a:chOff x="12854678" y="7749123"/>
            <a:chExt cx="164160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C0E141-A50E-9227-1942-B9DBB59F7EFC}"/>
                    </a:ext>
                  </a:extLst>
                </p14:cNvPr>
                <p14:cNvContentPartPr/>
                <p14:nvPr/>
              </p14:nvContentPartPr>
              <p14:xfrm>
                <a:off x="12854678" y="7749123"/>
                <a:ext cx="1641600" cy="40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C0E141-A50E-9227-1942-B9DBB59F7E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91678" y="7686483"/>
                  <a:ext cx="176724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795F06B-E36F-B7A5-7C90-ACBDAD0738C2}"/>
                    </a:ext>
                  </a:extLst>
                </p14:cNvPr>
                <p14:cNvContentPartPr/>
                <p14:nvPr/>
              </p14:nvContentPartPr>
              <p14:xfrm>
                <a:off x="12967358" y="7861434"/>
                <a:ext cx="1429560" cy="123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795F06B-E36F-B7A5-7C90-ACBDAD0738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904358" y="7798794"/>
                  <a:ext cx="1555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0BC139-3280-1DE1-111A-A043CAF4FB14}"/>
                    </a:ext>
                  </a:extLst>
                </p14:cNvPr>
                <p14:cNvContentPartPr/>
                <p14:nvPr/>
              </p14:nvContentPartPr>
              <p14:xfrm>
                <a:off x="13035398" y="7861074"/>
                <a:ext cx="1131120" cy="182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0BC139-3280-1DE1-111A-A043CAF4FB1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72758" y="7798074"/>
                  <a:ext cx="12567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DE73394-4A40-5931-1E3B-F76951D6E0DC}"/>
                    </a:ext>
                  </a:extLst>
                </p14:cNvPr>
                <p14:cNvContentPartPr/>
                <p14:nvPr/>
              </p14:nvContentPartPr>
              <p14:xfrm>
                <a:off x="13660358" y="7793754"/>
                <a:ext cx="323280" cy="2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DE73394-4A40-5931-1E3B-F76951D6E0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597358" y="7730754"/>
                  <a:ext cx="448920" cy="14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0545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Workflow Design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81125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automation pipeline connects four key tools into a seamless, trigger-based flow — from form submission to email alert.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23" y="1789271"/>
            <a:ext cx="12126516" cy="5229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67820" y="6026840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Finance Review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067820" y="4816358"/>
            <a:ext cx="2751094" cy="34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n8n Trigger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2067820" y="3618104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Save to Sheets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067820" y="2407623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Submit Form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201460" y="7174230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an employee submits a form, the entire process — storage, evaluation, and notification — completes automatically in under 3 minutes, with zero manual intervention.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98829E-ACE2-3085-E83D-3B4E49220D5E}"/>
                  </a:ext>
                </a:extLst>
              </p14:cNvPr>
              <p14:cNvContentPartPr/>
              <p14:nvPr/>
            </p14:nvContentPartPr>
            <p14:xfrm>
              <a:off x="12899678" y="7786203"/>
              <a:ext cx="1575000" cy="312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98829E-ACE2-3085-E83D-3B4E49220D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36678" y="7723203"/>
                <a:ext cx="1700640" cy="43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54" y="502087"/>
            <a:ext cx="3632716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Tools Used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954" y="2600206"/>
            <a:ext cx="6393180" cy="36227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57084" y="1200269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961" y="1353145"/>
            <a:ext cx="435888" cy="43588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9857" y="1473041"/>
            <a:ext cx="196096" cy="1960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209961" y="188202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Google Forms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9209961" y="2202061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Collects structured expense submissions from employees.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9057084" y="2829163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961" y="2982039"/>
            <a:ext cx="435888" cy="43588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9857" y="3101935"/>
            <a:ext cx="196096" cy="1960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209961" y="3510915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9209961" y="3830955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all submitted data in an organized, queryable format.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9057084" y="4458057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9961" y="4610933"/>
            <a:ext cx="435888" cy="435888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9857" y="4730829"/>
            <a:ext cx="196096" cy="19609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209961" y="5139809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n8n</a:t>
            </a:r>
            <a:endParaRPr lang="en-US" sz="1400" dirty="0"/>
          </a:p>
        </p:txBody>
      </p:sp>
      <p:sp>
        <p:nvSpPr>
          <p:cNvPr id="18" name="Text 9"/>
          <p:cNvSpPr/>
          <p:nvPr/>
        </p:nvSpPr>
        <p:spPr>
          <a:xfrm>
            <a:off x="9209961" y="5459849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automation engine — triggers, processes, and routes data.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9057084" y="6086951"/>
            <a:ext cx="3278862" cy="1535906"/>
          </a:xfrm>
          <a:prstGeom prst="roundRect">
            <a:avLst>
              <a:gd name="adj" fmla="val 851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9961" y="6239827"/>
            <a:ext cx="435888" cy="435888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29857" y="6359723"/>
            <a:ext cx="196096" cy="19609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209961" y="6768703"/>
            <a:ext cx="1899047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Gmail 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9209961" y="7088743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alerts, format data, and apply conditional logic within n8n.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213CD1B-2422-396D-258E-FC60384A3655}"/>
                  </a:ext>
                </a:extLst>
              </p14:cNvPr>
              <p14:cNvContentPartPr/>
              <p14:nvPr/>
            </p14:nvContentPartPr>
            <p14:xfrm>
              <a:off x="12888878" y="7827603"/>
              <a:ext cx="1587600" cy="30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213CD1B-2422-396D-258E-FC60384A36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25878" y="7764603"/>
                <a:ext cx="171324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418A584-9AE2-AC79-08C6-16FFC2C174FE}"/>
                  </a:ext>
                </a:extLst>
              </p14:cNvPr>
              <p14:cNvContentPartPr/>
              <p14:nvPr/>
            </p14:nvContentPartPr>
            <p14:xfrm>
              <a:off x="13336718" y="7984203"/>
              <a:ext cx="1014840" cy="33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418A584-9AE2-AC79-08C6-16FFC2C174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273718" y="7921563"/>
                <a:ext cx="11404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B4E0656-38BB-70E0-88D0-BF8FF21B311D}"/>
                  </a:ext>
                </a:extLst>
              </p14:cNvPr>
              <p14:cNvContentPartPr/>
              <p14:nvPr/>
            </p14:nvContentPartPr>
            <p14:xfrm>
              <a:off x="12845318" y="8015523"/>
              <a:ext cx="387360" cy="2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B4E0656-38BB-70E0-88D0-BF8FF21B31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782318" y="7952883"/>
                <a:ext cx="513000" cy="12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69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in 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93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Here's how the full pipeline looks end-to-end — from the employee's perspective to the finance team's inbox.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87397"/>
            <a:ext cx="1767840" cy="1092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363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1: Google 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853821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submits expense details — name, amount, category, and description — through a clean, mobile-friendly form.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987397"/>
            <a:ext cx="1767840" cy="1092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4363403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2: Google Sheets Log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208151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submission is instantly appended as a new row in the shared sheet, creating a complete, timestamped audit trail.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987397"/>
            <a:ext cx="1767840" cy="1092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4363403"/>
            <a:ext cx="28790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3: n8n Workflow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884" y="485382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n8n detects the new row, applies the finance rule, and triggers the appropriate email — all within seconds.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987397"/>
            <a:ext cx="1767840" cy="1092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4363403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4: Email Notification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491" y="520815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employee and approver each receive a tailored email — either a confirmation or a high-expense flag alert.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FEC8DFA-6565-8610-0B92-73B2A23A510B}"/>
                  </a:ext>
                </a:extLst>
              </p14:cNvPr>
              <p14:cNvContentPartPr/>
              <p14:nvPr/>
            </p14:nvContentPartPr>
            <p14:xfrm>
              <a:off x="12957278" y="7850283"/>
              <a:ext cx="1472400" cy="67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FEC8DFA-6565-8610-0B92-73B2A23A51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4638" y="7787643"/>
                <a:ext cx="15980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DD30D6B-AB29-274F-FB96-848ED891B918}"/>
                  </a:ext>
                </a:extLst>
              </p14:cNvPr>
              <p14:cNvContentPartPr/>
              <p14:nvPr/>
            </p14:nvContentPartPr>
            <p14:xfrm>
              <a:off x="12879518" y="7950003"/>
              <a:ext cx="1584000" cy="69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DD30D6B-AB29-274F-FB96-848ED891B9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16878" y="7887003"/>
                <a:ext cx="17096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0D07DD-F751-A49C-4EA6-C2A515C906B0}"/>
                  </a:ext>
                </a:extLst>
              </p14:cNvPr>
              <p14:cNvContentPartPr/>
              <p14:nvPr/>
            </p14:nvContentPartPr>
            <p14:xfrm>
              <a:off x="12827318" y="8017683"/>
              <a:ext cx="137952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0D07DD-F751-A49C-4EA6-C2A515C906B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64678" y="7954683"/>
                <a:ext cx="15051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427F1C-656B-32DB-8D8A-DB08E7539C43}"/>
                  </a:ext>
                </a:extLst>
              </p14:cNvPr>
              <p14:cNvContentPartPr/>
              <p14:nvPr/>
            </p14:nvContentPartPr>
            <p14:xfrm>
              <a:off x="13916318" y="7850643"/>
              <a:ext cx="5356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427F1C-656B-32DB-8D8A-DB08E7539C4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853318" y="7787643"/>
                <a:ext cx="6613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7311BCF-C39F-8F52-E10E-6894D0B89955}"/>
              </a:ext>
            </a:extLst>
          </p:cNvPr>
          <p:cNvGrpSpPr/>
          <p:nvPr/>
        </p:nvGrpSpPr>
        <p:grpSpPr>
          <a:xfrm>
            <a:off x="12972398" y="7983483"/>
            <a:ext cx="1479600" cy="168840"/>
            <a:chOff x="12972398" y="7983483"/>
            <a:chExt cx="147960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C52923-38BB-163E-4FB5-58C07FF15448}"/>
                    </a:ext>
                  </a:extLst>
                </p14:cNvPr>
                <p14:cNvContentPartPr/>
                <p14:nvPr/>
              </p14:nvContentPartPr>
              <p14:xfrm>
                <a:off x="14363078" y="8073843"/>
                <a:ext cx="44640" cy="21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C52923-38BB-163E-4FB5-58C07FF1544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00078" y="8010843"/>
                  <a:ext cx="170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97EDEC-5FD7-186B-DD93-524A7D6EF4A4}"/>
                    </a:ext>
                  </a:extLst>
                </p14:cNvPr>
                <p14:cNvContentPartPr/>
                <p14:nvPr/>
              </p14:nvContentPartPr>
              <p14:xfrm>
                <a:off x="13068518" y="7983483"/>
                <a:ext cx="1383480" cy="3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97EDEC-5FD7-186B-DD93-524A7D6EF4A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005518" y="7920843"/>
                  <a:ext cx="1509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777370-08B2-F61F-3E71-8ECF78C62BA9}"/>
                    </a:ext>
                  </a:extLst>
                </p14:cNvPr>
                <p14:cNvContentPartPr/>
                <p14:nvPr/>
              </p14:nvContentPartPr>
              <p14:xfrm>
                <a:off x="12972398" y="8105523"/>
                <a:ext cx="974880" cy="4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777370-08B2-F61F-3E71-8ECF78C62B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909398" y="8042883"/>
                  <a:ext cx="1100520" cy="172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35556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Time &amp; Cost Savings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23311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ROI of this automation is immediate and measurable — even at low transaction volumes.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6642" y="2400895"/>
            <a:ext cx="64297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12–15 min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620328" y="337685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Saved Per Claim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6642" y="3838218"/>
            <a:ext cx="64297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Manual: 15–20 min → Automated: 2–3 min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43907" y="2400895"/>
            <a:ext cx="6429851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10+ hrs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307592" y="337685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Monthly Time Saved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43907" y="3838218"/>
            <a:ext cx="64298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on 50 expense claims per month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6642" y="4696063"/>
            <a:ext cx="64297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₹45K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620328" y="567201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Annual Cost Saved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6642" y="6133386"/>
            <a:ext cx="64297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₹300/hr — ₹3,000–₹3,750/month saved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43907" y="4696063"/>
            <a:ext cx="6429851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~₹0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9307592" y="567201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Tool Cost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43907" y="6133386"/>
            <a:ext cx="64298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Forms, Sheets, and n8n are free or very low cost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6642" y="6702981"/>
            <a:ext cx="13117116" cy="891064"/>
          </a:xfrm>
          <a:prstGeom prst="roundRect">
            <a:avLst>
              <a:gd name="adj" fmla="val 21836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41" y="7020044"/>
            <a:ext cx="270153" cy="2160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58992" y="6962894"/>
            <a:ext cx="1219866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low investment. Very high return. This is automation at its most accessible.</a:t>
            </a:r>
            <a:endParaRPr lang="en-US" sz="17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565979-1F73-769B-F120-FAD973C62820}"/>
              </a:ext>
            </a:extLst>
          </p:cNvPr>
          <p:cNvGrpSpPr/>
          <p:nvPr/>
        </p:nvGrpSpPr>
        <p:grpSpPr>
          <a:xfrm>
            <a:off x="12833798" y="7805283"/>
            <a:ext cx="1696680" cy="313920"/>
            <a:chOff x="12833798" y="7805283"/>
            <a:chExt cx="169668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ECE38BA-28BE-1F88-128C-16031D62BA7C}"/>
                    </a:ext>
                  </a:extLst>
                </p14:cNvPr>
                <p14:cNvContentPartPr/>
                <p14:nvPr/>
              </p14:nvContentPartPr>
              <p14:xfrm>
                <a:off x="12833798" y="7816803"/>
                <a:ext cx="1551240" cy="3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ECE38BA-28BE-1F88-128C-16031D62BA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71158" y="7754163"/>
                  <a:ext cx="1676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73B3B9-FE93-9B17-53AA-B8D5D6B5FCA8}"/>
                    </a:ext>
                  </a:extLst>
                </p14:cNvPr>
                <p14:cNvContentPartPr/>
                <p14:nvPr/>
              </p14:nvContentPartPr>
              <p14:xfrm>
                <a:off x="12834878" y="7805283"/>
                <a:ext cx="1673640" cy="212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73B3B9-FE93-9B17-53AA-B8D5D6B5FCA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71878" y="7742643"/>
                  <a:ext cx="1799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64657C-97EF-80C1-0C89-430AF1CB2CE9}"/>
                    </a:ext>
                  </a:extLst>
                </p14:cNvPr>
                <p14:cNvContentPartPr/>
                <p14:nvPr/>
              </p14:nvContentPartPr>
              <p14:xfrm>
                <a:off x="12854318" y="7927683"/>
                <a:ext cx="1676160" cy="147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64657C-97EF-80C1-0C89-430AF1CB2C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91678" y="7865043"/>
                  <a:ext cx="18018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A730E4-87FE-AF5F-42E9-5DBD4927291A}"/>
                    </a:ext>
                  </a:extLst>
                </p14:cNvPr>
                <p14:cNvContentPartPr/>
                <p14:nvPr/>
              </p14:nvContentPartPr>
              <p14:xfrm>
                <a:off x="13527878" y="8061963"/>
                <a:ext cx="979920" cy="57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A730E4-87FE-AF5F-42E9-5DBD492729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65238" y="7999323"/>
                  <a:ext cx="1105560" cy="182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8979" y="615077"/>
            <a:ext cx="7878842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Industry Impact &amp; Real-World Relevance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118979" y="1960483"/>
            <a:ext cx="787884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Expense automation isn't just a class project — it's a standard practice at leading organizations worldwide.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18979" y="2641997"/>
            <a:ext cx="7878842" cy="1005245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07336" y="283035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Reduced Workload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07336" y="3199090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teams spend less time on manual data entry and more time on strategic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18979" y="3791188"/>
            <a:ext cx="7878842" cy="1005245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07336" y="3979545"/>
            <a:ext cx="2581632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Faster Reimbursements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307336" y="4348282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Employees receive reimbursements in days, not weeks — improving satisfaction and trust.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18979" y="4940379"/>
            <a:ext cx="7878842" cy="1265039"/>
          </a:xfrm>
          <a:prstGeom prst="roundRect">
            <a:avLst>
              <a:gd name="adj" fmla="val 12860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307336" y="5128736"/>
            <a:ext cx="233707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Real-Time Monitoring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307336" y="5497473"/>
            <a:ext cx="7502128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 managers gain a live dashboard view of all expense activity across the organization.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18979" y="6349365"/>
            <a:ext cx="7878842" cy="1265039"/>
          </a:xfrm>
          <a:prstGeom prst="roundRect">
            <a:avLst>
              <a:gd name="adj" fmla="val 12860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307336" y="6537722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Enterprise Scalable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307336" y="6906458"/>
            <a:ext cx="7502128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 like Infosys and TCS use similar automation frameworks across thousands of employees.</a:t>
            </a:r>
            <a:endParaRPr lang="en-US" sz="1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458979-BA26-B87B-FF3B-89D693E70F76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146"/>
            <a:ext cx="75430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Before vs. After Automation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65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impact of automation is measurable from day one. Here's how the experience changes for both employees and finance teams.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2927509"/>
            <a:ext cx="6571417" cy="3026569"/>
          </a:xfrm>
          <a:prstGeom prst="roundRect">
            <a:avLst>
              <a:gd name="adj" fmla="val 10792"/>
            </a:avLst>
          </a:prstGeom>
          <a:solidFill>
            <a:srgbClr val="FFC7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7250" y="3154323"/>
            <a:ext cx="299454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🔴 Before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743087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emails and spreadsheet entries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15–20 minutes per expense submission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risk of data entry errors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real-time tracking or visibility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Slow, multi-day approval cycles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15432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🟢</a:t>
            </a:r>
            <a:r>
              <a:rPr lang="en-US" sz="2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After Automation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743087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automated from form to inbox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2–3 minutes per expense — end to end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Accurate, structured, duplicate-free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tracking across Google Sheets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email alerts upon submission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33951" y="646437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"Automation drastically improves speed, accuracy, and visibility — transforming expense management from a burden into a background process."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6209228"/>
            <a:ext cx="30480" cy="1236107"/>
          </a:xfrm>
          <a:prstGeom prst="rect">
            <a:avLst/>
          </a:prstGeom>
          <a:solidFill>
            <a:srgbClr val="FFC7CD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7ED20F-3652-5997-2FF6-622CBEC9DA5B}"/>
              </a:ext>
            </a:extLst>
          </p:cNvPr>
          <p:cNvGrpSpPr/>
          <p:nvPr/>
        </p:nvGrpSpPr>
        <p:grpSpPr>
          <a:xfrm>
            <a:off x="12770078" y="7759923"/>
            <a:ext cx="1672920" cy="315360"/>
            <a:chOff x="12770078" y="7759923"/>
            <a:chExt cx="16729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BE51C44-6B5D-3DAE-2F45-33CD4051713D}"/>
                    </a:ext>
                  </a:extLst>
                </p14:cNvPr>
                <p14:cNvContentPartPr/>
                <p14:nvPr/>
              </p14:nvContentPartPr>
              <p14:xfrm>
                <a:off x="12846038" y="7759923"/>
                <a:ext cx="1596960" cy="31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BE51C44-6B5D-3DAE-2F45-33CD405171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83038" y="7697283"/>
                  <a:ext cx="17226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85FEB5-7B51-0ED9-48BF-C3E98A6A25CB}"/>
                    </a:ext>
                  </a:extLst>
                </p14:cNvPr>
                <p14:cNvContentPartPr/>
                <p14:nvPr/>
              </p14:nvContentPartPr>
              <p14:xfrm>
                <a:off x="13699238" y="7827603"/>
                <a:ext cx="652680" cy="112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85FEB5-7B51-0ED9-48BF-C3E98A6A25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636598" y="7764603"/>
                  <a:ext cx="778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FE23A3-17F8-5CED-DCFF-37C74557B613}"/>
                    </a:ext>
                  </a:extLst>
                </p14:cNvPr>
                <p14:cNvContentPartPr/>
                <p14:nvPr/>
              </p14:nvContentPartPr>
              <p14:xfrm>
                <a:off x="12770078" y="7858923"/>
                <a:ext cx="1057680" cy="81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FE23A3-17F8-5CED-DCFF-37C74557B61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07438" y="7796283"/>
                  <a:ext cx="1183320" cy="206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3328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Takeaways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75899"/>
            <a:ext cx="7952303" cy="45062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80113" y="3108127"/>
            <a:ext cx="3525322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This Project Demonstrates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751219" y="3552468"/>
            <a:ext cx="3807381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"Automation using n8n makes financial processes faster, smarter, and cost-efficient — and this project proves it."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480113" y="3552468"/>
            <a:ext cx="22860" cy="779383"/>
          </a:xfrm>
          <a:prstGeom prst="rect">
            <a:avLst/>
          </a:prstGeom>
          <a:solidFill>
            <a:srgbClr val="FFC7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929" y="6314896"/>
            <a:ext cx="271105" cy="2711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6518" y="6306026"/>
            <a:ext cx="555855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processing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claims resolved in minutes, not days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839" y="6314896"/>
            <a:ext cx="271105" cy="2711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92428" y="6306026"/>
            <a:ext cx="55586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tracking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live visibility for finance teams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929" y="7154049"/>
            <a:ext cx="271105" cy="2711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66518" y="7145179"/>
            <a:ext cx="555855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accuracy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 more manual errors or missing data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839" y="7154049"/>
            <a:ext cx="271105" cy="2711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92428" y="7145179"/>
            <a:ext cx="55586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ROI</a:t>
            </a: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built entirely on free tools with measurable savings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31500E-8A8A-BD63-FB5C-C8F882CA1AFD}"/>
                  </a:ext>
                </a:extLst>
              </p14:cNvPr>
              <p14:cNvContentPartPr/>
              <p14:nvPr/>
            </p14:nvContentPartPr>
            <p14:xfrm>
              <a:off x="12912638" y="7961523"/>
              <a:ext cx="1527840" cy="56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31500E-8A8A-BD63-FB5C-C8F882CA1A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9998" y="7898883"/>
                <a:ext cx="165348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8A313CB-A3B7-B4B6-3F14-728751F104E7}"/>
              </a:ext>
            </a:extLst>
          </p:cNvPr>
          <p:cNvGrpSpPr/>
          <p:nvPr/>
        </p:nvGrpSpPr>
        <p:grpSpPr>
          <a:xfrm>
            <a:off x="12819038" y="7832643"/>
            <a:ext cx="1677960" cy="208080"/>
            <a:chOff x="12819038" y="7832643"/>
            <a:chExt cx="167796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C901E8-0EF6-94E9-7252-1B4FE323A1DF}"/>
                    </a:ext>
                  </a:extLst>
                </p14:cNvPr>
                <p14:cNvContentPartPr/>
                <p14:nvPr/>
              </p14:nvContentPartPr>
              <p14:xfrm>
                <a:off x="12819038" y="7832643"/>
                <a:ext cx="1677960" cy="6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C901E8-0EF6-94E9-7252-1B4FE323A1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56038" y="7769643"/>
                  <a:ext cx="1803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379E7A-D22B-4C56-636A-D54020AC8509}"/>
                    </a:ext>
                  </a:extLst>
                </p14:cNvPr>
                <p14:cNvContentPartPr/>
                <p14:nvPr/>
              </p14:nvContentPartPr>
              <p14:xfrm>
                <a:off x="13097678" y="7902123"/>
                <a:ext cx="1354320" cy="138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379E7A-D22B-4C56-636A-D54020AC850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034678" y="7839483"/>
                  <a:ext cx="1479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E809E1-3AEA-E22C-19D0-EB57F670D902}"/>
                    </a:ext>
                  </a:extLst>
                </p14:cNvPr>
                <p14:cNvContentPartPr/>
                <p14:nvPr/>
              </p14:nvContentPartPr>
              <p14:xfrm>
                <a:off x="12901838" y="7883043"/>
                <a:ext cx="547920" cy="12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E809E1-3AEA-E22C-19D0-EB57F670D9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38838" y="7820403"/>
                  <a:ext cx="67356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04BABF1-E90C-0307-B2CA-9882C8CBF908}"/>
                  </a:ext>
                </a:extLst>
              </p14:cNvPr>
              <p14:cNvContentPartPr/>
              <p14:nvPr/>
            </p14:nvContentPartPr>
            <p14:xfrm>
              <a:off x="12851438" y="8004363"/>
              <a:ext cx="1332720" cy="102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04BABF1-E90C-0307-B2CA-9882C8CBF9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788798" y="7941723"/>
                <a:ext cx="1458360" cy="22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4242-2B0E-6A2B-635B-2CE531EC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B9FE74-859C-53E4-1A53-9759DC05D2BD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6545E3F-BE3E-D803-EF27-8DD303CE62F1}"/>
              </a:ext>
            </a:extLst>
          </p:cNvPr>
          <p:cNvSpPr/>
          <p:nvPr/>
        </p:nvSpPr>
        <p:spPr>
          <a:xfrm>
            <a:off x="298042" y="1086118"/>
            <a:ext cx="6849890" cy="6652204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6DC401-3178-D04A-8059-ADC4CFED320A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849EA6A-9AD2-9D3E-E597-055E9885F179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4F0F2B-11C1-1073-49B1-F76264EDD5C6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A5100F-7776-7335-9584-45C7B0A48187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BACB3AE-D20D-BA45-2C9E-19624B58AC78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Shape 2">
            <a:extLst>
              <a:ext uri="{FF2B5EF4-FFF2-40B4-BE49-F238E27FC236}">
                <a16:creationId xmlns:a16="http://schemas.microsoft.com/office/drawing/2014/main" id="{116369C1-C93E-315D-DFAC-31F2E6AC9F92}"/>
              </a:ext>
            </a:extLst>
          </p:cNvPr>
          <p:cNvSpPr/>
          <p:nvPr/>
        </p:nvSpPr>
        <p:spPr>
          <a:xfrm>
            <a:off x="7351695" y="1086117"/>
            <a:ext cx="7089143" cy="6652205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6FE64A3-7589-50D7-BF79-CC8DFE992F3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8617" t="3872"/>
          <a:stretch>
            <a:fillRect/>
          </a:stretch>
        </p:blipFill>
        <p:spPr>
          <a:xfrm>
            <a:off x="489865" y="1480889"/>
            <a:ext cx="6658067" cy="58626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7AAF98-D125-8E14-3432-4F1466A6154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35671"/>
          <a:stretch>
            <a:fillRect/>
          </a:stretch>
        </p:blipFill>
        <p:spPr>
          <a:xfrm>
            <a:off x="7541839" y="1396784"/>
            <a:ext cx="6646127" cy="62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5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E5D1-AC82-F098-4FE4-63D5A27C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5DBC106-82AC-669D-6FAD-54B69A24D752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9F3F8CF-14D5-494E-BC4B-3C8955F33D27}"/>
              </a:ext>
            </a:extLst>
          </p:cNvPr>
          <p:cNvSpPr/>
          <p:nvPr/>
        </p:nvSpPr>
        <p:spPr>
          <a:xfrm>
            <a:off x="298042" y="1086118"/>
            <a:ext cx="6849890" cy="6507862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F60071-157A-2949-74B4-4BC068955B4B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DE638F3-FD07-EC87-8A6F-79791448B026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478447-0284-E613-DE83-26DFE628E244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EDDA21-CDFE-F582-6D7D-B87B7DC728B4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54C3010-C429-75F6-F7B6-3D61AF696F1A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Shape 2">
            <a:extLst>
              <a:ext uri="{FF2B5EF4-FFF2-40B4-BE49-F238E27FC236}">
                <a16:creationId xmlns:a16="http://schemas.microsoft.com/office/drawing/2014/main" id="{E6692838-C411-4270-9C93-F17C7ED5235F}"/>
              </a:ext>
            </a:extLst>
          </p:cNvPr>
          <p:cNvSpPr/>
          <p:nvPr/>
        </p:nvSpPr>
        <p:spPr>
          <a:xfrm>
            <a:off x="7351695" y="1086117"/>
            <a:ext cx="7089143" cy="6507863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88BC4-5FDB-72B9-DB30-06F22CDD3C0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35289"/>
          <a:stretch>
            <a:fillRect/>
          </a:stretch>
        </p:blipFill>
        <p:spPr>
          <a:xfrm>
            <a:off x="427801" y="1442605"/>
            <a:ext cx="6590371" cy="5917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73D7D5-3B1A-14B6-2D68-E109BCC7C50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3155" r="15930"/>
          <a:stretch>
            <a:fillRect/>
          </a:stretch>
        </p:blipFill>
        <p:spPr>
          <a:xfrm>
            <a:off x="7530624" y="1442605"/>
            <a:ext cx="6731283" cy="5744982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FC112DE3-BE9E-1A95-FEC9-D2DF7AC61559}"/>
              </a:ext>
            </a:extLst>
          </p:cNvPr>
          <p:cNvSpPr/>
          <p:nvPr/>
        </p:nvSpPr>
        <p:spPr>
          <a:xfrm>
            <a:off x="965902" y="7220707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82891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0743-0F97-42CC-F599-FD15B680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45F9D46-A6CE-CD38-0684-A485646B5EBF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9E47F60-3859-86E4-A706-BEC65BB66AC6}"/>
              </a:ext>
            </a:extLst>
          </p:cNvPr>
          <p:cNvSpPr/>
          <p:nvPr/>
        </p:nvSpPr>
        <p:spPr>
          <a:xfrm>
            <a:off x="298041" y="1086118"/>
            <a:ext cx="13919763" cy="6507862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840710-1C4D-6D10-C4C1-6F902C4BACE1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FA2698-B959-4336-D046-C5C7447B1FD1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784E8F6-7344-D9E4-F8E9-9C2B85F60DE6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F756D4-01A1-E015-9612-6E0A470D7D24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5758156-641C-A84D-A92E-4E60B0EA9AE2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 4">
            <a:extLst>
              <a:ext uri="{FF2B5EF4-FFF2-40B4-BE49-F238E27FC236}">
                <a16:creationId xmlns:a16="http://schemas.microsoft.com/office/drawing/2014/main" id="{7EEC23FD-C919-AD79-24E1-A85F15FCA2F4}"/>
              </a:ext>
            </a:extLst>
          </p:cNvPr>
          <p:cNvSpPr/>
          <p:nvPr/>
        </p:nvSpPr>
        <p:spPr>
          <a:xfrm>
            <a:off x="965902" y="7220707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09DACA-07F9-F875-0B4C-49B00CC1F3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381" y="1204369"/>
            <a:ext cx="12657082" cy="614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83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EA32-63E1-5BE2-2CCA-A70FBE83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7BEDE8-0AA5-D868-BB23-8CFA5C4ABEA0}"/>
              </a:ext>
            </a:extLst>
          </p:cNvPr>
          <p:cNvSpPr/>
          <p:nvPr/>
        </p:nvSpPr>
        <p:spPr>
          <a:xfrm>
            <a:off x="501805" y="267357"/>
            <a:ext cx="13496016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C5461"/>
                </a:solidFill>
                <a:latin typeface="DM Sans Semi Bold" pitchFamily="34" charset="0"/>
              </a:rPr>
              <a:t>Screenshots of our work</a:t>
            </a:r>
            <a:endParaRPr lang="en-US" sz="3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FC23419-DD5C-6E4C-7CB7-F95B7070E6A9}"/>
              </a:ext>
            </a:extLst>
          </p:cNvPr>
          <p:cNvSpPr/>
          <p:nvPr/>
        </p:nvSpPr>
        <p:spPr>
          <a:xfrm>
            <a:off x="298041" y="1086118"/>
            <a:ext cx="13919763" cy="6507862"/>
          </a:xfrm>
          <a:prstGeom prst="roundRect">
            <a:avLst>
              <a:gd name="adj" fmla="val 1618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286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78D91C-AB3D-E395-A235-63F65E441676}"/>
              </a:ext>
            </a:extLst>
          </p:cNvPr>
          <p:cNvGrpSpPr/>
          <p:nvPr/>
        </p:nvGrpSpPr>
        <p:grpSpPr>
          <a:xfrm>
            <a:off x="12822998" y="7838043"/>
            <a:ext cx="1695960" cy="203040"/>
            <a:chOff x="12822998" y="7838043"/>
            <a:chExt cx="16959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3CE48C-14CF-3472-FB6F-1BAD04E88E1C}"/>
                    </a:ext>
                  </a:extLst>
                </p14:cNvPr>
                <p14:cNvContentPartPr/>
                <p14:nvPr/>
              </p14:nvContentPartPr>
              <p14:xfrm>
                <a:off x="12863318" y="7838043"/>
                <a:ext cx="157752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B75E2-38E3-E7BA-C6AC-BCB275AFF7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00318" y="7775403"/>
                  <a:ext cx="170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8068EA-CCDD-74A3-2105-E2E51EB06F49}"/>
                    </a:ext>
                  </a:extLst>
                </p14:cNvPr>
                <p14:cNvContentPartPr/>
                <p14:nvPr/>
              </p14:nvContentPartPr>
              <p14:xfrm>
                <a:off x="12924518" y="7860363"/>
                <a:ext cx="158400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84FF67-0CBD-A712-8373-28A6E72107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1518" y="7797363"/>
                  <a:ext cx="1709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E6A605-2C04-7FD9-8003-4013B88C39FB}"/>
                    </a:ext>
                  </a:extLst>
                </p14:cNvPr>
                <p14:cNvContentPartPr/>
                <p14:nvPr/>
              </p14:nvContentPartPr>
              <p14:xfrm>
                <a:off x="12822998" y="7995363"/>
                <a:ext cx="169596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5EC70-64DE-9E60-1259-7AA8B7D3E8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9998" y="7932723"/>
                  <a:ext cx="182160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B47F7D0-8F8A-65E8-F967-DD3BCD54ACCB}"/>
                  </a:ext>
                </a:extLst>
              </p14:cNvPr>
              <p14:cNvContentPartPr/>
              <p14:nvPr/>
            </p14:nvContentPartPr>
            <p14:xfrm>
              <a:off x="13292078" y="8055483"/>
              <a:ext cx="1026720" cy="4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6163C4-7700-4328-DCD6-0B5A40DF8F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29078" y="7992483"/>
                <a:ext cx="1152360" cy="1663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 4">
            <a:extLst>
              <a:ext uri="{FF2B5EF4-FFF2-40B4-BE49-F238E27FC236}">
                <a16:creationId xmlns:a16="http://schemas.microsoft.com/office/drawing/2014/main" id="{018247D8-1005-9286-10A7-BD48129D5515}"/>
              </a:ext>
            </a:extLst>
          </p:cNvPr>
          <p:cNvSpPr/>
          <p:nvPr/>
        </p:nvSpPr>
        <p:spPr>
          <a:xfrm>
            <a:off x="965902" y="7220707"/>
            <a:ext cx="750212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E7D5B-BE35-1831-9DC8-17DAEBFEFE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8789" y="1111554"/>
            <a:ext cx="10575610" cy="639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0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879</Words>
  <Application>Microsoft Office PowerPoint</Application>
  <PresentationFormat>Custom</PresentationFormat>
  <Paragraphs>125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DM Sans Semi Bold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shreyathakkar410@gmail.com</cp:lastModifiedBy>
  <cp:revision>8</cp:revision>
  <dcterms:created xsi:type="dcterms:W3CDTF">2026-04-29T18:17:30Z</dcterms:created>
  <dcterms:modified xsi:type="dcterms:W3CDTF">2026-04-30T04:06:55Z</dcterms:modified>
</cp:coreProperties>
</file>